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09728" cy="5143500"/>
          </a:xfrm>
          <a:prstGeom prst="rect">
            <a:avLst/>
          </a:prstGeom>
          <a:solidFill>
            <a:srgbClr val="192260">
              <a:alpha val="60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36992" y="0"/>
            <a:ext cx="109728" cy="5143500"/>
          </a:xfrm>
          <a:prstGeom prst="rect">
            <a:avLst/>
          </a:prstGeom>
          <a:solidFill>
            <a:srgbClr val="192260">
              <a:alpha val="53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01584" y="0"/>
            <a:ext cx="109728" cy="5143500"/>
          </a:xfrm>
          <a:prstGeom prst="rect">
            <a:avLst/>
          </a:prstGeom>
          <a:solidFill>
            <a:srgbClr val="192260">
              <a:alpha val="46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66176" y="0"/>
            <a:ext cx="109728" cy="5143500"/>
          </a:xfrm>
          <a:prstGeom prst="rect">
            <a:avLst/>
          </a:prstGeom>
          <a:solidFill>
            <a:srgbClr val="192260">
              <a:alpha val="39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0768" y="0"/>
            <a:ext cx="109728" cy="5143500"/>
          </a:xfrm>
          <a:prstGeom prst="rect">
            <a:avLst/>
          </a:prstGeom>
          <a:solidFill>
            <a:srgbClr val="192260">
              <a:alpha val="32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0"/>
            <a:ext cx="109728" cy="5143500"/>
          </a:xfrm>
          <a:prstGeom prst="rect">
            <a:avLst/>
          </a:prstGeom>
          <a:solidFill>
            <a:srgbClr val="192260">
              <a:alpha val="25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59952" y="0"/>
            <a:ext cx="109728" cy="5143500"/>
          </a:xfrm>
          <a:prstGeom prst="rect">
            <a:avLst/>
          </a:prstGeom>
          <a:solidFill>
            <a:srgbClr val="192260">
              <a:alpha val="18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24544" y="0"/>
            <a:ext cx="109728" cy="5143500"/>
          </a:xfrm>
          <a:prstGeom prst="rect">
            <a:avLst/>
          </a:prstGeom>
          <a:solidFill>
            <a:srgbClr val="192260">
              <a:alpha val="11000"/>
            </a:srgbClr>
          </a:solidFill>
          <a:ln w="12700">
            <a:solidFill>
              <a:srgbClr val="1922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57200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Policy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02920" y="1417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Robot Manipulation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2011680" cy="5029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8716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Robot to Push using Generative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6140 — Machine Learning  |  Northeastern University  |  April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649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Yashvardhan Gupta  ·  Vineeth Sakhamuru  ·  Sai Krishna Reddy Maligireddy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8046720" cy="960120"/>
          </a:xfrm>
          <a:prstGeom prst="rect">
            <a:avLst/>
          </a:prstGeom>
          <a:solidFill>
            <a:srgbClr val="141D55"/>
          </a:solidFill>
          <a:ln w="12700">
            <a:solidFill>
              <a:srgbClr val="141D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4689043"/>
            <a:ext cx="320040" cy="20117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24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480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Baseline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4306824"/>
            <a:ext cx="320040" cy="402336"/>
          </a:xfrm>
          <a:prstGeom prst="rect">
            <a:avLst/>
          </a:prstGeom>
          <a:solidFill>
            <a:srgbClr val="6B7CAB"/>
          </a:solidFill>
          <a:ln w="12700">
            <a:solidFill>
              <a:srgbClr val="6B7C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4224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480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4246474"/>
            <a:ext cx="320040" cy="46268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224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4480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86600" y="4216298"/>
            <a:ext cx="320040" cy="49286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224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480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E1340"/>
          </a:solidFill>
          <a:ln w="12700">
            <a:solidFill>
              <a:srgbClr val="0E13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github.com/BrutalCaeser/Diffusion_Robot_Control_Policy  |  120 unit tests passing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Push a T-Shaped Block onto a Target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3977640"/>
          </a:xfrm>
          <a:prstGeom prst="rect">
            <a:avLst/>
          </a:prstGeom>
          <a:solidFill>
            <a:srgbClr val="E4ECF9"/>
          </a:solidFill>
          <a:ln w="12700">
            <a:solidFill>
              <a:srgbClr val="BDD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03120"/>
            <a:ext cx="1828800" cy="1371600"/>
          </a:xfrm>
          <a:prstGeom prst="rect">
            <a:avLst/>
          </a:prstGeom>
          <a:solidFill>
            <a:srgbClr val="B8C8D8">
              <a:alpha val="70000"/>
            </a:srgbClr>
          </a:solidFill>
          <a:ln w="19050">
            <a:solidFill>
              <a:srgbClr val="8AAA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280160"/>
            <a:ext cx="1737360" cy="411480"/>
          </a:xfrm>
          <a:prstGeom prst="rect">
            <a:avLst/>
          </a:prstGeom>
          <a:solidFill>
            <a:srgbClr val="5B7CBA"/>
          </a:solidFill>
          <a:ln w="12700">
            <a:solidFill>
              <a:srgbClr val="3A5A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280160"/>
            <a:ext cx="548640" cy="777240"/>
          </a:xfrm>
          <a:prstGeom prst="rect">
            <a:avLst/>
          </a:prstGeom>
          <a:solidFill>
            <a:srgbClr val="5B7CBA"/>
          </a:solidFill>
          <a:ln w="12700">
            <a:solidFill>
              <a:srgbClr val="3A5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024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T-block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F476F"/>
          </a:solidFill>
          <a:ln w="25400">
            <a:solidFill>
              <a:srgbClr val="C0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70432" y="2907792"/>
            <a:ext cx="320040" cy="-822960"/>
          </a:xfrm>
          <a:prstGeom prst="line">
            <a:avLst/>
          </a:prstGeom>
          <a:noFill/>
          <a:ln w="3175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65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(end-effector)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331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Push!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841248"/>
            <a:ext cx="658368" cy="6583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4A8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41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63240" y="15544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4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overlap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07408" y="9144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8412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8412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end-effector, moves in 2D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07408" y="157276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49961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14996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T-block onto gray target region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07408" y="223113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15798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215798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covers target by ≥ 90%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407408" y="288950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281635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52160" y="2816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numbers: agent (x,y) + block (x,y,θ)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407408" y="35478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🎮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3474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2160" y="3474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numbers: velocity (vₓ, vy)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07408" y="42062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07408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💾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92040" y="41330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52160" y="41330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expert demos · 25,650 steps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27448"/>
            <a:ext cx="85953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Receding-horizon control: predict 16 future actions → execute first 8 → replan with fresh observations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ML Fails: Expert Behavior is Multi-Modal</a:t>
            </a:r>
            <a:endParaRPr lang="en-US" sz="2100" dirty="0"/>
          </a:p>
        </p:txBody>
      </p:sp>
      <p:pic>
        <p:nvPicPr>
          <p:cNvPr id="4" name="Image 0" descr="/Volumes/Crucial_X9/Projects/ML_6140/Diffusion_Robot_Control_Policy/plots/multimodal_motiv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13232"/>
            <a:ext cx="594360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749808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749808"/>
            <a:ext cx="54864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8046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strategies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117043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colored line = one expert's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to the task.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valid strategies exist!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242316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423160"/>
            <a:ext cx="54864" cy="15544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4780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averages modes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92240" y="284378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space is bimodal.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predicts the middle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gets stuck.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343400"/>
            <a:ext cx="859536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result: </a:t>
            </a:r>
            <a:pPr algn="ctr" indent="0" marL="0">
              <a:buNone/>
            </a:pPr>
            <a:r>
              <a:rPr lang="en-US" sz="15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success</a:t>
            </a:r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Averaging valid strategies produces an </a:t>
            </a:r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strategy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Diffusion Idea: Iteratively Remove Noise to Get an Action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743200" cy="4069080"/>
          </a:xfrm>
          <a:prstGeom prst="rect">
            <a:avLst/>
          </a:prstGeom>
          <a:solidFill>
            <a:srgbClr val="F5F0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658368"/>
            <a:ext cx="548640" cy="5486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468880" cy="201168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" y="16230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76022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6776" y="158877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72593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0345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210312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1368" y="196596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5144" y="213741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" y="24460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258318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237744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48256" y="25146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9736" y="230886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8575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9888" y="292608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282321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186309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227457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268605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" y="224028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44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Noise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" y="3611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action sequence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90088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172968" y="749808"/>
            <a:ext cx="2743200" cy="4069080"/>
          </a:xfrm>
          <a:prstGeom prst="rect">
            <a:avLst/>
          </a:prstGeom>
          <a:solidFill>
            <a:srgbClr val="FFF8E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70248" y="658368"/>
            <a:ext cx="548640" cy="5486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310128" y="868680"/>
            <a:ext cx="2468880" cy="201168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57016" y="155448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50792" y="148590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44568" y="158877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38344" y="152019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08676" y="155448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98164" y="193167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91940" y="189738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85716" y="196596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97196" y="189738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67528" y="193167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39312" y="227457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33088" y="224028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26864" y="230886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38344" y="224028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08676" y="2308860"/>
            <a:ext cx="137160" cy="914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4408" y="2944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3264408" y="3611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removes noise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times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80176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6163056" y="749808"/>
            <a:ext cx="2743200" cy="4069080"/>
          </a:xfrm>
          <a:prstGeom prst="rect">
            <a:avLst/>
          </a:prstGeom>
          <a:solidFill>
            <a:srgbClr val="EDFDF6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60336" y="658368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0336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300216" y="868680"/>
            <a:ext cx="2468880" cy="201168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91656" y="960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757416" y="960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123176" y="960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488936" y="960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854696" y="960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220456" y="960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391656" y="1417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757416" y="1417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7123176" y="1417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488936" y="1417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7854696" y="1417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220456" y="1417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391656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6757416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7123176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7488936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7854696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8220456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6391656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6757416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7123176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488936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7854696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220456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6254496" y="2944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Action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6254496" y="3611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robot motion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emerges!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636008"/>
            <a:ext cx="859536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starting noise  →  Different valid action  |  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diffusion handles multi-modal expert behavior!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206 Expert Demonstrations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1965960"/>
          </a:xfrm>
          <a:prstGeom prst="rect">
            <a:avLst/>
          </a:prstGeom>
          <a:solidFill>
            <a:srgbClr val="EEF2FF"/>
          </a:solidFill>
          <a:ln w="1270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Episodes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demos from Columbia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651760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77240"/>
            <a:ext cx="2651760" cy="54864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68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25,650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64408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+ 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777240"/>
            <a:ext cx="2651760" cy="19659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777240"/>
            <a:ext cx="265176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868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~25K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163056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Windows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sliding-window split</a:t>
            </a:r>
            <a:endParaRPr lang="en-US" sz="1000" dirty="0"/>
          </a:p>
        </p:txBody>
      </p:sp>
      <p:pic>
        <p:nvPicPr>
          <p:cNvPr id="19" name="Image 0" descr="/Volumes/Crucial_X9/Projects/ML_6140/Diffusion_Robot_Control_Policy/plots/dataset/dataset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834640"/>
            <a:ext cx="4572000" cy="2011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120640" y="2834640"/>
            <a:ext cx="37490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20640" y="2834640"/>
            <a:ext cx="54864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2907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windows work: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03520" y="3337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23560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last 2 timesteps  (T_obs = 2)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303520" y="37033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23560" y="3703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16 actions  (T_pred = 16)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303520" y="4069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623560" y="4069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first 8, then replan  (T_action = 8)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303520" y="4434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0352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62356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task done or timeout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303520" y="4617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normalised to [−1, 1] before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Conditional 1D Temporal U-Net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920240" y="777240"/>
            <a:ext cx="2560320" cy="475488"/>
          </a:xfrm>
          <a:prstGeom prst="rect">
            <a:avLst/>
          </a:prstGeom>
          <a:solidFill>
            <a:srgbClr val="EEF2FF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777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(16, 2)   2 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63240" y="12527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1828800" cy="475488"/>
          </a:xfrm>
          <a:prstGeom prst="rect">
            <a:avLst/>
          </a:prstGeom>
          <a:solidFill>
            <a:srgbClr val="E0E7FF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173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1   256 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18928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655064"/>
            <a:ext cx="548640" cy="2560320"/>
          </a:xfrm>
          <a:prstGeom prst="line">
            <a:avLst/>
          </a:prstGeom>
          <a:noFill/>
          <a:ln w="19050">
            <a:solidFill>
              <a:srgbClr val="F9C74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60320" y="2057400"/>
            <a:ext cx="1280160" cy="475488"/>
          </a:xfrm>
          <a:prstGeom prst="rect">
            <a:avLst/>
          </a:prstGeom>
          <a:solidFill>
            <a:srgbClr val="C7D2FE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0574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   512 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5328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295144"/>
            <a:ext cx="548640" cy="1280160"/>
          </a:xfrm>
          <a:prstGeom prst="line">
            <a:avLst/>
          </a:prstGeom>
          <a:noFill/>
          <a:ln w="19050">
            <a:solidFill>
              <a:srgbClr val="F9C74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834640" y="2697480"/>
            <a:ext cx="731520" cy="475488"/>
          </a:xfrm>
          <a:prstGeom prst="rect">
            <a:avLst/>
          </a:prstGeom>
          <a:solidFill>
            <a:srgbClr val="818CF8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6974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  1024 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31729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3337560"/>
            <a:ext cx="1280160" cy="475488"/>
          </a:xfrm>
          <a:prstGeom prst="rect">
            <a:avLst/>
          </a:prstGeom>
          <a:solidFill>
            <a:srgbClr val="C7D2FE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3375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   512 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38130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0" y="3977640"/>
            <a:ext cx="1828800" cy="475488"/>
          </a:xfrm>
          <a:prstGeom prst="rect">
            <a:avLst/>
          </a:prstGeom>
          <a:solidFill>
            <a:srgbClr val="E0E7FF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977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1   256 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4617720"/>
            <a:ext cx="2560320" cy="475488"/>
          </a:xfrm>
          <a:prstGeom prst="rect">
            <a:avLst/>
          </a:prstGeom>
          <a:solidFill>
            <a:srgbClr val="D1FAE5"/>
          </a:solidFill>
          <a:ln w="9525">
            <a:solidFill>
              <a:srgbClr val="BDD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6177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(16, 2)   2 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777240"/>
            <a:ext cx="31546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777240"/>
            <a:ext cx="54864" cy="21031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841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Inputs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12618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history (2 × 5 = 10 numbers)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1600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timestep k (noise level)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19385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embed each → concat → 512-d vector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22768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FiLM: scale &amp; shift every ResBlock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3063240"/>
            <a:ext cx="3154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3063240"/>
            <a:ext cx="54864" cy="1783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27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35478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DDPM:  predict noise  ε  → shape (16 × 2)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9136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FM:    predict velocity  v = ε − a₀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43708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68.95 M params  |  EMA decay = 0.995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828032"/>
            <a:ext cx="457200" cy="0"/>
          </a:xfrm>
          <a:prstGeom prst="line">
            <a:avLst/>
          </a:prstGeom>
          <a:noFill/>
          <a:ln w="19050">
            <a:solidFill>
              <a:srgbClr val="F9C74F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822960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(encoder → decoder)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Run the Model at Inference Time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743200" cy="4206240"/>
          </a:xfrm>
          <a:prstGeom prst="rect">
            <a:avLst/>
          </a:prstGeom>
          <a:solidFill>
            <a:srgbClr val="F8FAFC"/>
          </a:solidFill>
          <a:ln w="9525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49808"/>
            <a:ext cx="27432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steps: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5024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7340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9656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1972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4288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6604" y="176479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 more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286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27614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761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2369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32369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2468880" cy="36576"/>
          </a:xfrm>
          <a:prstGeom prst="rect">
            <a:avLst/>
          </a:prstGeom>
          <a:solidFill>
            <a:srgbClr val="BDD0F0"/>
          </a:solidFill>
          <a:ln w="12700">
            <a:solidFill>
              <a:srgbClr val="BDD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221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stochastic reverse chain.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denoises over 100 steps.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749808"/>
            <a:ext cx="2743200" cy="4206240"/>
          </a:xfrm>
          <a:prstGeom prst="rect">
            <a:avLst/>
          </a:prstGeom>
          <a:solidFill>
            <a:srgbClr val="EEF2FF"/>
          </a:solidFill>
          <a:ln w="9525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749808"/>
            <a:ext cx="2743200" cy="54864"/>
          </a:xfrm>
          <a:prstGeom prst="rect">
            <a:avLst/>
          </a:prstGeom>
          <a:solidFill>
            <a:srgbClr val="2D3580"/>
          </a:solidFill>
          <a:ln w="12700">
            <a:solidFill>
              <a:srgbClr val="2D3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868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4612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steps: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1764792"/>
            <a:ext cx="182880" cy="182880"/>
          </a:xfrm>
          <a:prstGeom prst="ellipse">
            <a:avLst/>
          </a:prstGeom>
          <a:solidFill>
            <a:srgbClr val="2D3580"/>
          </a:solidFill>
          <a:ln w="12700">
            <a:solidFill>
              <a:srgbClr val="2D35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79876" y="1764792"/>
            <a:ext cx="182880" cy="182880"/>
          </a:xfrm>
          <a:prstGeom prst="ellipse">
            <a:avLst/>
          </a:prstGeom>
          <a:solidFill>
            <a:srgbClr val="2D3580"/>
          </a:solidFill>
          <a:ln w="12700">
            <a:solidFill>
              <a:srgbClr val="2D35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22192" y="1764792"/>
            <a:ext cx="182880" cy="182880"/>
          </a:xfrm>
          <a:prstGeom prst="ellipse">
            <a:avLst/>
          </a:prstGeom>
          <a:solidFill>
            <a:srgbClr val="2D3580"/>
          </a:solidFill>
          <a:ln w="12700">
            <a:solidFill>
              <a:srgbClr val="2D35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4508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06824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49140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33772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76088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18404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286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4340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91840" y="27614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43400" y="2761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32369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43400" y="32369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91840" y="3730752"/>
            <a:ext cx="2468880" cy="36576"/>
          </a:xfrm>
          <a:prstGeom prst="rect">
            <a:avLst/>
          </a:prstGeom>
          <a:solidFill>
            <a:srgbClr val="BDD0F0"/>
          </a:solidFill>
          <a:ln w="12700">
            <a:solidFill>
              <a:srgbClr val="BDD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38221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most timesteps algebraically.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faster — same trained model.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26480" y="749808"/>
            <a:ext cx="2743200" cy="4206240"/>
          </a:xfrm>
          <a:prstGeom prst="rect">
            <a:avLst/>
          </a:prstGeom>
          <a:solidFill>
            <a:srgbClr val="ECFDF5"/>
          </a:solidFill>
          <a:ln w="9525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749808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868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★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21792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steps: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1764792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51676" y="1764792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93992" y="1764792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36308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78624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20940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63256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05572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90204" y="1764792"/>
            <a:ext cx="182880" cy="1828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2286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31520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263640" y="27614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315200" y="2761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 ms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263640" y="32369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315200" y="32369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63640" y="3730752"/>
            <a:ext cx="2468880" cy="36576"/>
          </a:xfrm>
          <a:prstGeom prst="rect">
            <a:avLst/>
          </a:prstGeom>
          <a:solidFill>
            <a:srgbClr val="BDD0F0"/>
          </a:solidFill>
          <a:ln w="12700">
            <a:solidFill>
              <a:srgbClr val="BDD0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0" y="38221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ODE from noise to action.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conditioned — best results.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681728"/>
            <a:ext cx="859536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Matching:  x_t = (1−t)·action + t·noise    →    target: v = noise − action    →    inference: Euler 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That Took DDIM from 0%  →  92% Success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420624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420624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50392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03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noise schedule at K = 100 steps: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ᾱ₉₉  ≈  2 × 10⁻⁸  (essentially zero)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recovers the clean action by dividing by √ᾱ_t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t=99:   √ᾱ = 0.00016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explodes to ±millions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063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never moves  →  0% success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…despite perfect training loss! 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749808"/>
            <a:ext cx="4206240" cy="4206240"/>
          </a:xfrm>
          <a:prstGeom prst="rect">
            <a:avLst/>
          </a:prstGeom>
          <a:solidFill>
            <a:srgbClr val="F0FDF9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749808"/>
            <a:ext cx="420624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850392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8503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 (2 lines)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(broken):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572768"/>
            <a:ext cx="3931920" cy="457200"/>
          </a:xfrm>
          <a:prstGeom prst="rect">
            <a:avLst/>
          </a:prstGeom>
          <a:solidFill>
            <a:srgbClr val="FFE4E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5727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= (noisy − √(1−ᾱ)·ε) / √ᾱ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(fixed):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432304"/>
            <a:ext cx="393192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323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= (noisy − √(1−ᾱ)·ε) / √ᾱ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.clamp(min=1e-3)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8346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= a0.clamp(−1.0,  1.0)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36499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3649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→  92% success rate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858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perfect loss ≠ working policy. Check edge cases in math.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651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Diffusion Crushes the BC Baseline</a:t>
            </a:r>
            <a:endParaRPr lang="en-US" sz="2100" dirty="0"/>
          </a:p>
        </p:txBody>
      </p:sp>
      <p:pic>
        <p:nvPicPr>
          <p:cNvPr id="4" name="Image 0" descr="/Volumes/Crucial_X9/Projects/ML_6140/Diffusion_Robot_Control_Policy/plots/fina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13232"/>
            <a:ext cx="60350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777240"/>
            <a:ext cx="2514600" cy="896112"/>
          </a:xfrm>
          <a:prstGeom prst="rect">
            <a:avLst/>
          </a:prstGeom>
          <a:solidFill>
            <a:srgbClr val="ECFDF5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777240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06640" y="8046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1161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8.9ms · 10 steps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2514600" cy="896112"/>
          </a:xfrm>
          <a:prstGeom prst="rect">
            <a:avLst/>
          </a:prstGeom>
          <a:solidFill>
            <a:srgbClr val="EEF2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783080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06640" y="18105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2167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10ms · 10 steps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46520" y="2788920"/>
            <a:ext cx="2514600" cy="896112"/>
          </a:xfrm>
          <a:prstGeom prst="rect">
            <a:avLst/>
          </a:prstGeom>
          <a:solidFill>
            <a:srgbClr val="F8FAFC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788920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406640" y="28163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06640" y="3172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84ms · 100 steps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46520" y="3794760"/>
            <a:ext cx="2514600" cy="896112"/>
          </a:xfrm>
          <a:prstGeom prst="rect">
            <a:avLst/>
          </a:prstGeom>
          <a:solidFill>
            <a:srgbClr val="FFF1F2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46520" y="3794760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406640" y="38221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Baseline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06640" y="4178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0.6ms · 1 step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526280"/>
            <a:ext cx="85953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24.5× gap between BC (4%) and Flow Matching (98%)  |  </a:t>
            </a:r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matches &amp; exceeds Chi et al. 2023 (paper: ~90%)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How Many Denoising Steps Does DDIM Really Need?</a:t>
            </a:r>
            <a:endParaRPr lang="en-US" sz="2100" dirty="0"/>
          </a:p>
        </p:txBody>
      </p:sp>
      <p:pic>
        <p:nvPicPr>
          <p:cNvPr id="4" name="Image 0" descr="/Volumes/Crucial_X9/Projects/ML_6140/Diffusion_Robot_Control_Policy/plots/steps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13232"/>
            <a:ext cx="57607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777240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777240"/>
            <a:ext cx="54864" cy="10698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1 step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188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failure. Proves iterative denoising is genuinely needed.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938528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938528"/>
            <a:ext cx="54864" cy="10698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84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5 steps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360" y="23500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success at 2× the speed of default. Sweet spot for deployment!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3099816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3099816"/>
            <a:ext cx="54864" cy="10698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100 steps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351129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better than 5 steps. 20× more compute, zero gain.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325112"/>
            <a:ext cx="9144000" cy="8183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325112"/>
            <a:ext cx="8595360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model — no retraining needed.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change the number of inference steps.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denoising landscape is so well-conditioned that 5 steps suffice for 100% success.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Flow Matching Beats DDPM: Straight Paths Are Easier to Invert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11480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49808"/>
            <a:ext cx="41148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/ DDIM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Curved, roundabout path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4206240"/>
            <a:ext cx="-73152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657600"/>
            <a:ext cx="109728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3108960"/>
            <a:ext cx="-128016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560320"/>
            <a:ext cx="109728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011680"/>
            <a:ext cx="-731520" cy="-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554480"/>
            <a:ext cx="548640" cy="-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4069080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4544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Noise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143000"/>
            <a:ext cx="457200" cy="457200"/>
          </a:xfrm>
          <a:prstGeom prst="ellipse">
            <a:avLst/>
          </a:prstGeom>
          <a:solidFill>
            <a:srgbClr val="2D358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886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743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tiny steps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(many model calls)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749808"/>
            <a:ext cx="4114800" cy="41148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749808"/>
            <a:ext cx="41148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850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 ★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37760" y="1234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Straight line: x_t = (1−t)·a₀ + t·ε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4206240"/>
            <a:ext cx="0" cy="-2880360"/>
          </a:xfrm>
          <a:prstGeom prst="line">
            <a:avLst/>
          </a:prstGeom>
          <a:noFill/>
          <a:ln w="381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4544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Noise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1143000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886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12280" y="388620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356616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2280" y="324612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292608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260604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28600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196596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164592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12280" y="1325880"/>
            <a:ext cx="18288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22860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perfectly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straight line)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50608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↖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81728"/>
            <a:ext cx="859536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paths are easier to invert. The model learns a simpler mapping → better convergence → 98% success.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Convergence: 300 Epochs on NVIDIA V100 SXM2</a:t>
            </a:r>
            <a:endParaRPr lang="en-US" sz="2100" dirty="0"/>
          </a:p>
        </p:txBody>
      </p:sp>
      <p:pic>
        <p:nvPicPr>
          <p:cNvPr id="4" name="Image 0" descr="/Volumes/Crucial_X9/Projects/ML_6140/Diffusion_Robot_Control_Policy/plots/training_curves/ddpm_vs_fm_300e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13232"/>
            <a:ext cx="621792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749808"/>
            <a:ext cx="23774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D0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749808"/>
            <a:ext cx="54864" cy="3749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822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0" y="1298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26680" y="1298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 = 1e-4)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66560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26680" y="17099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0" y="2121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26680" y="21214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500-step linear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766560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26680" y="2532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each method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66560" y="2944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26680" y="29443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V100 SXM2 (32 GB)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6560" y="33558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26680" y="33558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hrs each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66560" y="37673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decay: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26680" y="37673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76656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losses aren't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comparable.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predicts ε;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predicts velocity v.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Unit Tests — Every Module Verified End-to-End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194560" cy="219456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BD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286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822960"/>
            <a:ext cx="6309360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test_bc_policy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905256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905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15000" y="822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gradients, determinism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1261872"/>
            <a:ext cx="6309360" cy="411480"/>
          </a:xfrm>
          <a:prstGeom prst="rect">
            <a:avLst/>
          </a:prstGeom>
          <a:solidFill>
            <a:srgbClr val="EEF2FF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2618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test_unet1d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4960" y="1344168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3441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15000" y="1261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skip connections, gradients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1700784"/>
            <a:ext cx="6309360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7007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test_ddpm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1783080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830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15000" y="17007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schedule, forward &amp; reverse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51760" y="2139696"/>
            <a:ext cx="6309360" cy="411480"/>
          </a:xfrm>
          <a:prstGeom prst="rect">
            <a:avLst/>
          </a:prstGeom>
          <a:solidFill>
            <a:srgbClr val="EEF2FF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1396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test_ddim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2221992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221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15000" y="21396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Determinism, numerical fix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51760" y="2578608"/>
            <a:ext cx="6309360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5786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test_flow_matching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94960" y="2660904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26609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15000" y="25786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ODE step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51760" y="3017520"/>
            <a:ext cx="6309360" cy="411480"/>
          </a:xfrm>
          <a:prstGeom prst="rect">
            <a:avLst/>
          </a:prstGeom>
          <a:solidFill>
            <a:srgbClr val="EEF2FF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test_ema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94960" y="3099816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30998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Decay, apply/restore cycle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51760" y="3456432"/>
            <a:ext cx="6309360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34564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test_normalizer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94960" y="3538728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5387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715000" y="34564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round-trip, checkpoint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651760" y="3895344"/>
            <a:ext cx="6309360" cy="411480"/>
          </a:xfrm>
          <a:prstGeom prst="rect">
            <a:avLst/>
          </a:prstGeom>
          <a:solidFill>
            <a:srgbClr val="EEF2FF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38953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test_integration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94960" y="3977640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3977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15000" y="38953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forward pass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51760" y="4334256"/>
            <a:ext cx="6309360" cy="411480"/>
          </a:xfrm>
          <a:prstGeom prst="rect">
            <a:avLst/>
          </a:prstGeom>
          <a:solidFill>
            <a:srgbClr val="F8FAFC"/>
          </a:solidFill>
          <a:ln w="3175">
            <a:solidFill>
              <a:srgbClr val="BDD0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4334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test_vision_encoder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394960" y="4416552"/>
            <a:ext cx="246888" cy="2468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4416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15000" y="43342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frozen backbone, FiLM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-v   →   120 passed in 43s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multimodal problem is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225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averages → 4%. Diffusion picks one valid strategy → 98%. The gap is architectural, not a tuning issue.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92224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92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7007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&gt; DDPM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029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ODE paths give the model a simpler job. Better accuracy (98%), faster inference (8.9ms).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384048" cy="38404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5054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clamp = 0% success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divided by ᾱ ≈ 2×10⁻⁸ at the final step → explosion. Two lines of code fixed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0156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denoising steps achieves 100%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393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such a clean landscape that 5 inference steps are enough. Real robots need speed.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384048" cy="384048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🏗️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is learnable from scratch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4439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68.95M-parameter U-Net, built line by line, matches published results. No black box — every piece understood.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E1340"/>
          </a:solidFill>
          <a:ln w="12700">
            <a:solidFill>
              <a:srgbClr val="0E1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FM: 98%  |  DDIM: 92%  |  DDPM: 80%  |  BC: 4%  |  120 tests  |  github.com/BrutalCaeser/Diffusion_Robot_Control_Policy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Policy for Robot Manipulation</dc:title>
  <dc:subject>PptxGenJS Presentation</dc:subject>
  <dc:creator>Yashvardhan Gupta, Vineeth Sakhamuru, Sai Krishna Reddy Maligireddy</dc:creator>
  <cp:lastModifiedBy>Yashvardhan Gupta, Vineeth Sakhamuru, Sai Krishna Reddy Maligireddy</cp:lastModifiedBy>
  <cp:revision>1</cp:revision>
  <dcterms:created xsi:type="dcterms:W3CDTF">2026-04-12T06:10:18Z</dcterms:created>
  <dcterms:modified xsi:type="dcterms:W3CDTF">2026-04-12T06:10:18Z</dcterms:modified>
</cp:coreProperties>
</file>